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InvenVision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834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00D4FF"/>
                </a:solidFill>
              </a:rPr>
              <a:t>AI-Powered Pharmacy Inventory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0BEC5"/>
                </a:solidFill>
              </a:rPr>
              <a:t>Predict · Manage · Never Run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608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GDSC Hackathon 2026  |  Team InvenVision  |  Live at gdsc-hackathon.up.railway.app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Understanding the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EC5"/>
                </a:solidFill>
              </a:rPr>
              <a:t>The journey of a product — from manufacturer to your hands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256032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</a:rPr>
              <a:t>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606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D4FF"/>
                </a:solidFill>
              </a:rPr>
              <a:t>Manufacturer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063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Produces medicines
in bulk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D4FF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1920240"/>
            <a:ext cx="256032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201168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</a:rPr>
              <a:t>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06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FF9D"/>
                </a:solidFill>
              </a:rPr>
              <a:t>Distributor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063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Transports &amp; stores
in warehouses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62472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D4FF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920240"/>
            <a:ext cx="256032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201168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</a:rPr>
              <a:t>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06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</a:rPr>
              <a:t>Retailer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63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Sells to end
customers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00D4FF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920240"/>
            <a:ext cx="2560320" cy="2286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201168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606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D600"/>
                </a:solidFill>
              </a:rPr>
              <a:t>Customer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06324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Receives the
product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0BEC5"/>
                </a:solidFill>
              </a:rPr>
              <a:t>Each link in the chain depends on accurate inventory data to function efficiently.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6B35"/>
                </a:solidFill>
              </a:rPr>
              <a:t>Break one link → the entire chain fails.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FF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Critical Problems in Supply Chain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12344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3D3D"/>
                </a:solidFill>
              </a:rPr>
              <a:t>📉  Demand Forecasting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Companies can't predict demand → overstock or stockout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1463040"/>
            <a:ext cx="5394960" cy="12344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3D3D"/>
                </a:solidFill>
              </a:rPr>
              <a:t>🗑️  Waste &amp; Expiry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Medicines expire on shelves → ₹15,000+ annual loss per pharmacy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5394960" cy="12344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17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3D3D"/>
                </a:solidFill>
              </a:rPr>
              <a:t>🔗  Poor Visibility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No real-time view of stock levels across the 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59" y="2926080"/>
            <a:ext cx="5394960" cy="12344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017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3D3D"/>
                </a:solidFill>
              </a:rPr>
              <a:t>📝  Manual Tracking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74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Paper ledgers &amp; Excel → errors, delays, data loss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89120"/>
            <a:ext cx="5394960" cy="12344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3D3D"/>
                </a:solidFill>
              </a:rPr>
              <a:t>💸  Cash Flow Issues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37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Dead stock locks up capital that could be reinvested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4389120"/>
            <a:ext cx="5394960" cy="1234440"/>
          </a:xfrm>
          <a:prstGeom prst="rect">
            <a:avLst/>
          </a:prstGeom>
          <a:solidFill>
            <a:srgbClr val="20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480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3D3D"/>
                </a:solidFill>
              </a:rPr>
              <a:t>⏰  Reactive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937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Owners reorder only when stock runs out — too late!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Pharmacy Owner's Daily Nightmare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2606040" cy="1737360"/>
          </a:xfrm>
          <a:prstGeom prst="rect">
            <a:avLst/>
          </a:prstGeom>
          <a:solidFill>
            <a:srgbClr val="1A10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6B35"/>
                </a:solidFill>
              </a:rPr>
              <a:t>9 Lakh+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331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Licensed pharmacies
in India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606040" cy="1737360"/>
          </a:xfrm>
          <a:prstGeom prst="rect">
            <a:avLst/>
          </a:prstGeom>
          <a:solidFill>
            <a:srgbClr val="1A10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0020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6B35"/>
                </a:solidFill>
              </a:rPr>
              <a:t>87%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377440"/>
            <a:ext cx="2331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Still using paper
or basic Excel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2606040" cy="1737360"/>
          </a:xfrm>
          <a:prstGeom prst="rect">
            <a:avLst/>
          </a:prstGeom>
          <a:solidFill>
            <a:srgbClr val="1A10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6B35"/>
                </a:solidFill>
              </a:rPr>
              <a:t>₹15,000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377440"/>
            <a:ext cx="2331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Lost per year to
expired medicines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463040"/>
            <a:ext cx="2606040" cy="1737360"/>
          </a:xfrm>
          <a:prstGeom prst="rect">
            <a:avLst/>
          </a:prstGeom>
          <a:solidFill>
            <a:srgbClr val="1A10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60020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6B35"/>
                </a:solidFill>
              </a:rPr>
              <a:t>1 in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377440"/>
            <a:ext cx="2331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Customers lost due
to stockouts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11064240" cy="1097280"/>
          </a:xfrm>
          <a:prstGeom prst="rect">
            <a:avLst/>
          </a:prstGeom>
          <a:solidFill>
            <a:srgbClr val="1A10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118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6B35"/>
                </a:solidFill>
              </a:rPr>
              <a:t>😫  The reality: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118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B0BEC5"/>
                </a:solidFill>
              </a:rPr>
              <a:t>"I ordered too much Paracetamol last month — half of it expired.
This month I ran out of it in 2 days and lost 30 customers."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</a:rPr>
              <a:t>This is not a rare story. This is every small pharmacy owner in India. Every month.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Introducing InvenVision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0D4FF"/>
                </a:solidFill>
              </a:rPr>
              <a:t>The AI Brain every pharmacy is missing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1234440"/>
          </a:xfrm>
          <a:prstGeom prst="rect">
            <a:avLst/>
          </a:prstGeom>
          <a:solidFill>
            <a:srgbClr val="04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🔮  AI Demand Forecasting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0487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6 mathematical models predict when you'll run out — before it happens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874519"/>
            <a:ext cx="5394960" cy="1234440"/>
          </a:xfrm>
          <a:prstGeom prst="rect">
            <a:avLst/>
          </a:prstGeom>
          <a:solidFill>
            <a:srgbClr val="04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🚨  Plain-English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0487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"Your Paracetamol will last only 2 more days. Order NOW." — anyone can use this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91839"/>
            <a:ext cx="5394960" cy="1234440"/>
          </a:xfrm>
          <a:prstGeom prst="rect">
            <a:avLst/>
          </a:prstGeom>
          <a:solidFill>
            <a:srgbClr val="04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3832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📊  Smart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22191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Revenue trends, top products, category insights — from real sales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59" y="3291839"/>
            <a:ext cx="5394960" cy="1234440"/>
          </a:xfrm>
          <a:prstGeom prst="rect">
            <a:avLst/>
          </a:prstGeom>
          <a:solidFill>
            <a:srgbClr val="04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832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🧾  Full Billing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22191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Create invoices, auto-update inventory, track payments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09160"/>
            <a:ext cx="5394960" cy="1234440"/>
          </a:xfrm>
          <a:prstGeom prst="rect">
            <a:avLst/>
          </a:prstGeom>
          <a:solidFill>
            <a:srgbClr val="04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00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📒  Customer Khata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3951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Digital credit ledger — credit sales + payments, always balanced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4709160"/>
            <a:ext cx="5394960" cy="1234440"/>
          </a:xfrm>
          <a:prstGeom prst="rect">
            <a:avLst/>
          </a:prstGeom>
          <a:solidFill>
            <a:srgbClr val="04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800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☁️  Cloud-First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3951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Works anywhere, multi-device, Supabase PostgreSQL — zero data loss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AI Forecasting Engine — How It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822960" cy="1097280"/>
          </a:xfrm>
          <a:prstGeom prst="rect">
            <a:avLst/>
          </a:prstGeom>
          <a:solidFill>
            <a:srgbClr val="002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7498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FF9D"/>
                </a:solidFill>
              </a:rPr>
              <a:t>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508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Exponential Moving Average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9659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Weights recent sales more — best for trending products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59" y="1463040"/>
            <a:ext cx="822960" cy="1097280"/>
          </a:xfrm>
          <a:prstGeom prst="rect">
            <a:avLst/>
          </a:prstGeom>
          <a:solidFill>
            <a:srgbClr val="002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1719072"/>
            <a:ext cx="7498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FF9D"/>
                </a:solidFill>
              </a:rPr>
              <a:t>SMA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59" y="1508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Simple Moving Average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9" y="19659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Smooth baseline for stable products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822960" cy="1097280"/>
          </a:xfrm>
          <a:prstGeom prst="rect">
            <a:avLst/>
          </a:prstGeom>
          <a:solidFill>
            <a:srgbClr val="002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90672"/>
            <a:ext cx="7498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FF9D"/>
                </a:solidFill>
              </a:rPr>
              <a:t>WMA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Weighted Moving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3375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Custom weights for seasonal patterns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2834640"/>
            <a:ext cx="822960" cy="1097280"/>
          </a:xfrm>
          <a:prstGeom prst="rect">
            <a:avLst/>
          </a:prstGeom>
          <a:solidFill>
            <a:srgbClr val="002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3090672"/>
            <a:ext cx="7498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FF9D"/>
                </a:solidFill>
              </a:rPr>
              <a:t>Holt's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59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Double Exponential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59" y="33375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Captures both level &amp; trend simultaneously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06240"/>
            <a:ext cx="822960" cy="1097280"/>
          </a:xfrm>
          <a:prstGeom prst="rect">
            <a:avLst/>
          </a:prstGeom>
          <a:solidFill>
            <a:srgbClr val="002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462272"/>
            <a:ext cx="7498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FF9D"/>
                </a:solidFill>
              </a:rPr>
              <a:t>Linear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25195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Linear Regression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709159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Best for steady growth or decline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59" y="4206240"/>
            <a:ext cx="822960" cy="1097280"/>
          </a:xfrm>
          <a:prstGeom prst="rect">
            <a:avLst/>
          </a:prstGeom>
          <a:solidFill>
            <a:srgbClr val="0025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79" y="4462272"/>
            <a:ext cx="7498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FF9D"/>
                </a:solidFill>
              </a:rPr>
              <a:t>Seasonal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59" y="4251959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Naive Seasonal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59" y="4709159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Repeating weekly/monthly cycles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solidFill>
            <a:srgbClr val="042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77900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FF9D"/>
                </a:solidFill>
              </a:rPr>
              <a:t>✅  System auto-selects the best model per product. User just picks a product → clicks Generate → sees results in 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System Architecture &amp;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2011680" cy="1828800"/>
          </a:xfrm>
          <a:prstGeom prst="rect">
            <a:avLst/>
          </a:prstGeom>
          <a:solidFill>
            <a:srgbClr val="0A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D4FF"/>
                </a:solidFill>
              </a:rPr>
              <a:t>👤
User Login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EC5"/>
                </a:solidFill>
              </a:rPr>
              <a:t>Google OAuth
Secure Auth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D4FF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645920"/>
            <a:ext cx="2011680" cy="1828800"/>
          </a:xfrm>
          <a:prstGeom prst="rect">
            <a:avLst/>
          </a:prstGeom>
          <a:solidFill>
            <a:srgbClr val="0A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FF9D"/>
                </a:solidFill>
              </a:rPr>
              <a:t>🧾
Record Sale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EC5"/>
                </a:solidFill>
              </a:rPr>
              <a:t>Invoice Created
Stock Updated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D4FF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645920"/>
            <a:ext cx="2011680" cy="1828800"/>
          </a:xfrm>
          <a:prstGeom prst="rect">
            <a:avLst/>
          </a:prstGeom>
          <a:solidFill>
            <a:srgbClr val="0A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D600"/>
                </a:solidFill>
              </a:rPr>
              <a:t>🗄️
Supabase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EC5"/>
                </a:solidFill>
              </a:rPr>
              <a:t>PostgreSQL
Cloud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D4FF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59" y="1645920"/>
            <a:ext cx="2011680" cy="1828800"/>
          </a:xfrm>
          <a:prstGeom prst="rect">
            <a:avLst/>
          </a:prstGeom>
          <a:solidFill>
            <a:srgbClr val="0A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799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</a:rPr>
              <a:t>🧠
AI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799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EC5"/>
                </a:solidFill>
              </a:rPr>
              <a:t>6 Models Run
Best Selected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2328" y="224028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D4FF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1645920"/>
            <a:ext cx="2011680" cy="1828800"/>
          </a:xfrm>
          <a:prstGeom prst="rect">
            <a:avLst/>
          </a:prstGeom>
          <a:solidFill>
            <a:srgbClr val="0A1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19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000FF"/>
                </a:solidFill>
              </a:rPr>
              <a:t>📊
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19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EC5"/>
                </a:solidFill>
              </a:rPr>
              <a:t>Alerts + Charts
+ Forecast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8404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Database Tables: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51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EC5"/>
                </a:solidFill>
              </a:rPr>
              <a:t>users  ·  products  ·  stock_in  ·  invoices  ·  invoice_items  ·  customers  ·  customer_payments  ·  inventory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9D"/>
                </a:solidFill>
              </a:rPr>
              <a:t>All tables auto-created on first boot. Zero manual DB setup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77840" cy="2240280"/>
          </a:xfrm>
          <a:prstGeom prst="rect">
            <a:avLst/>
          </a:prstGeom>
          <a:solidFill>
            <a:srgbClr val="0A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577840" cy="457200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7218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D4FF"/>
                </a:solidFill>
              </a:rPr>
              <a:t>🖥️  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HTML5 + CSS3 (Vanilla)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6829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JavaScript (ES6+)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7063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Chart.js — interactive graphs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729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Responsive design — mobile ready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5577840" cy="2240280"/>
          </a:xfrm>
          <a:prstGeom prst="rect">
            <a:avLst/>
          </a:prstGeom>
          <a:solidFill>
            <a:srgbClr val="0A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417320"/>
            <a:ext cx="5577840" cy="457200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7218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FF9D"/>
                </a:solidFill>
              </a:rPr>
              <a:t>⚙️  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659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Python 3.12 + Flask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6829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Authlib — Google OAuth 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7063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Gunicorn — production WSGI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729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ProxyFix — HTTPS behind Railway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5577840" cy="2240280"/>
          </a:xfrm>
          <a:prstGeom prst="rect">
            <a:avLst/>
          </a:prstGeom>
          <a:solidFill>
            <a:srgbClr val="0A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5577840" cy="457200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89534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D600"/>
                </a:solidFill>
              </a:rPr>
              <a:t>🗄️  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891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PostgreSQL (Supabase cloud)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79145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psycopg2-binary driver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19379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Session Pooler — IPv4, SSL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5961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8 relational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59" y="3840480"/>
            <a:ext cx="5577840" cy="2240280"/>
          </a:xfrm>
          <a:prstGeom prst="rect">
            <a:avLst/>
          </a:prstGeom>
          <a:solidFill>
            <a:srgbClr val="0A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59" y="3840480"/>
            <a:ext cx="5577840" cy="457200"/>
          </a:xfrm>
          <a:prstGeom prst="rect">
            <a:avLst/>
          </a:prstGeom>
          <a:solidFill>
            <a:srgbClr val="0F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89534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6B35"/>
                </a:solidFill>
              </a:rPr>
              <a:t>☁️  DevOps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38912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Railway — cloud 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79145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GitHub — CI/CD auto-deploy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19379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nixpacks.toml — build config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5961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▸  Environment vars — zero secrets in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C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What Makes InvenVision Different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3657600" cy="548640"/>
          </a:xfrm>
          <a:prstGeom prst="rect">
            <a:avLst/>
          </a:prstGeom>
          <a:solidFill>
            <a:srgbClr val="1A0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60520" y="1325880"/>
            <a:ext cx="3474720" cy="548640"/>
          </a:xfrm>
          <a:prstGeom prst="rect">
            <a:avLst/>
          </a:prstGeom>
          <a:solidFill>
            <a:srgbClr val="1A0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0" y="1325880"/>
            <a:ext cx="4023360" cy="548640"/>
          </a:xfrm>
          <a:prstGeom prst="rect">
            <a:avLst/>
          </a:prstGeom>
          <a:solidFill>
            <a:srgbClr val="1A0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00FF"/>
                </a:solidFill>
              </a:rPr>
              <a:t>Feature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4173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00FF"/>
                </a:solidFill>
              </a:rPr>
              <a:t>Traditional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17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00FF"/>
                </a:solidFill>
              </a:rPr>
              <a:t>InvenVision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20240"/>
            <a:ext cx="365760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1920240"/>
            <a:ext cx="347472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1920240"/>
            <a:ext cx="402336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11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Demand Forecasting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0116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3D3D"/>
                </a:solidFill>
              </a:rPr>
              <a:t>❌  None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0116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9D"/>
                </a:solidFill>
              </a:rPr>
              <a:t>✅  6 AI Models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3657600" cy="548640"/>
          </a:xfrm>
          <a:prstGeom prst="rect">
            <a:avLst/>
          </a:prstGeom>
          <a:solidFill>
            <a:srgbClr val="121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2514600"/>
            <a:ext cx="3474720" cy="548640"/>
          </a:xfrm>
          <a:prstGeom prst="rect">
            <a:avLst/>
          </a:prstGeom>
          <a:solidFill>
            <a:srgbClr val="121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80960" y="2514600"/>
            <a:ext cx="4023360" cy="548640"/>
          </a:xfrm>
          <a:prstGeom prst="rect">
            <a:avLst/>
          </a:prstGeom>
          <a:solidFill>
            <a:srgbClr val="121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606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Setup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26060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3D3D"/>
                </a:solidFill>
              </a:rPr>
              <a:t>❌  ₹10,000-20,000/yr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6060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9D"/>
                </a:solidFill>
              </a:rPr>
              <a:t>✅  Free / ₹499/month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108960"/>
            <a:ext cx="365760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3108960"/>
            <a:ext cx="347472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0" y="3108960"/>
            <a:ext cx="402336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2004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Plain-English 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3D3D"/>
                </a:solidFill>
              </a:rPr>
              <a:t>❌  Only numbers/reports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20040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9D"/>
                </a:solidFill>
              </a:rPr>
              <a:t>✅  'Order NOW — 2 days left'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03320"/>
            <a:ext cx="3657600" cy="548640"/>
          </a:xfrm>
          <a:prstGeom prst="rect">
            <a:avLst/>
          </a:prstGeom>
          <a:solidFill>
            <a:srgbClr val="121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60520" y="3703320"/>
            <a:ext cx="3474720" cy="548640"/>
          </a:xfrm>
          <a:prstGeom prst="rect">
            <a:avLst/>
          </a:prstGeom>
          <a:solidFill>
            <a:srgbClr val="121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80960" y="3703320"/>
            <a:ext cx="4023360" cy="548640"/>
          </a:xfrm>
          <a:prstGeom prst="rect">
            <a:avLst/>
          </a:prstGeom>
          <a:solidFill>
            <a:srgbClr val="121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7947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Cloud Database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3794759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3D3D"/>
                </a:solidFill>
              </a:rPr>
              <a:t>❌  Local PC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3794759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9D"/>
                </a:solidFill>
              </a:rPr>
              <a:t>✅  Supabase PostgreSQL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97680"/>
            <a:ext cx="365760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60520" y="4297680"/>
            <a:ext cx="347472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80960" y="4297680"/>
            <a:ext cx="402336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389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Google Login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0" y="43891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3D3D"/>
                </a:solidFill>
              </a:rPr>
              <a:t>❌  Username+Password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43891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9D"/>
                </a:solidFill>
              </a:rPr>
              <a:t>✅  One-click OAuth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892040"/>
            <a:ext cx="3657600" cy="548640"/>
          </a:xfrm>
          <a:prstGeom prst="rect">
            <a:avLst/>
          </a:prstGeom>
          <a:solidFill>
            <a:srgbClr val="121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60520" y="4892040"/>
            <a:ext cx="3474720" cy="548640"/>
          </a:xfrm>
          <a:prstGeom prst="rect">
            <a:avLst/>
          </a:prstGeom>
          <a:solidFill>
            <a:srgbClr val="121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680960" y="4892040"/>
            <a:ext cx="4023360" cy="548640"/>
          </a:xfrm>
          <a:prstGeom prst="rect">
            <a:avLst/>
          </a:prstGeom>
          <a:solidFill>
            <a:srgbClr val="121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49834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Analytics Charts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4983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3D3D"/>
                </a:solidFill>
              </a:rPr>
              <a:t>❌  Export to Excel only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98348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9D"/>
                </a:solidFill>
              </a:rPr>
              <a:t>✅  Live interactive charts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486400"/>
            <a:ext cx="365760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60520" y="5486400"/>
            <a:ext cx="347472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5486400"/>
            <a:ext cx="4023360" cy="548640"/>
          </a:xfrm>
          <a:prstGeom prst="rect">
            <a:avLst/>
          </a:prstGeom>
          <a:solidFill>
            <a:srgbClr val="0D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5778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BEC5"/>
                </a:solidFill>
              </a:rPr>
              <a:t>Customer Khata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1960" y="5577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3D3D"/>
                </a:solidFill>
              </a:rPr>
              <a:t>❌  Separate notebook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557784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FF9D"/>
                </a:solidFill>
              </a:rPr>
              <a:t>✅  Digital credit ledger built-in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00F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Business Impact &amp; Market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1920240"/>
          </a:xfrm>
          <a:prstGeom prst="rect">
            <a:avLst/>
          </a:prstGeom>
          <a:solidFill>
            <a:srgbClr val="04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FF9D"/>
                </a:solidFill>
              </a:rPr>
              <a:t>₹15,000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42032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Saved per pharmacy
per year from expiry prevention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508760"/>
            <a:ext cx="2606040" cy="1920240"/>
          </a:xfrm>
          <a:prstGeom prst="rect">
            <a:avLst/>
          </a:prstGeom>
          <a:solidFill>
            <a:srgbClr val="04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6459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D4FF"/>
                </a:solidFill>
              </a:rPr>
              <a:t>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42032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Reduction in stockout
events with AI forecasting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508760"/>
            <a:ext cx="2606040" cy="1920240"/>
          </a:xfrm>
          <a:prstGeom prst="rect">
            <a:avLst/>
          </a:prstGeom>
          <a:solidFill>
            <a:srgbClr val="04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459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D600"/>
                </a:solidFill>
              </a:rPr>
              <a:t>₹499/mo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542032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Pro plan — affordable
for every pharmacy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508760"/>
            <a:ext cx="2606040" cy="1920240"/>
          </a:xfrm>
          <a:prstGeom prst="rect">
            <a:avLst/>
          </a:prstGeom>
          <a:solidFill>
            <a:srgbClr val="04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6459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6B35"/>
                </a:solidFill>
              </a:rPr>
              <a:t>9L+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542032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0BEC5"/>
                </a:solidFill>
              </a:rPr>
              <a:t>Target pharmacies
across India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155680" cy="640080"/>
          </a:xfrm>
          <a:prstGeom prst="rect">
            <a:avLst/>
          </a:prstGeom>
          <a:solidFill>
            <a:srgbClr val="04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587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FF9D"/>
                </a:solidFill>
              </a:rPr>
              <a:t>🎯  Revenue Potential:  1% adoption × 9L pharmacies × ₹499/month  =  ₹4.5 Crore MRR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Roadmap: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EC5"/>
                </a:solidFill>
              </a:rPr>
              <a:t>📱 PWA / Offline Mode  →  💬 WhatsApp Alerts  →  🤖 GPT-powered Reorder Advisor  →  🏥 Multi-branch Support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1005840" cy="6400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Live &amp; Deployed —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11155680" cy="822960"/>
          </a:xfrm>
          <a:prstGeom prst="rect">
            <a:avLst/>
          </a:prstGeom>
          <a:solidFill>
            <a:srgbClr val="0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FF"/>
                </a:solidFill>
              </a:rPr>
              <a:t>🌐  Live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gdsc-hackathon.up.railway.app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1155680" cy="822960"/>
          </a:xfrm>
          <a:prstGeom prst="rect">
            <a:avLst/>
          </a:prstGeom>
          <a:solidFill>
            <a:srgbClr val="0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FF9D"/>
                </a:solidFill>
              </a:rPr>
              <a:t>💚  Health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83464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gdsc-hackathon.up.railway.app/api/health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657600"/>
            <a:ext cx="11155680" cy="822960"/>
          </a:xfrm>
          <a:prstGeom prst="rect">
            <a:avLst/>
          </a:prstGeom>
          <a:solidFill>
            <a:srgbClr val="0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794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600"/>
                </a:solidFill>
              </a:rPr>
              <a:t>💻  Source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84048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github.com/ansajkhare-ops/GDSC-INVENVISION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63440"/>
            <a:ext cx="11155680" cy="822960"/>
          </a:xfrm>
          <a:prstGeom prst="rect">
            <a:avLst/>
          </a:prstGeom>
          <a:solidFill>
            <a:srgbClr val="04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8006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6B35"/>
                </a:solidFill>
              </a:rPr>
              <a:t>🗄️  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846320"/>
            <a:ext cx="7955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Supabase — aws-1-ap-southeast-1 (PostgreSQL)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06440"/>
            <a:ext cx="11155680" cy="594360"/>
          </a:xfrm>
          <a:prstGeom prst="rect">
            <a:avLst/>
          </a:prstGeom>
          <a:solidFill>
            <a:srgbClr val="002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87044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FF9D"/>
                </a:solidFill>
              </a:rPr>
              <a:t>✅  Not a prototype. Not a mockup. A real, production-deployed application.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18872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>
                <a:solidFill>
                  <a:srgbClr val="FFFFFF"/>
                </a:solidFill>
              </a:rPr>
              <a:t>InvenVision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00D4FF"/>
                </a:solidFill>
              </a:rPr>
              <a:t>The Brain Every Pharmacy is Missing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337560"/>
            <a:ext cx="5760720" cy="54864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6576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0BEC5"/>
                </a:solidFill>
              </a:rPr>
              <a:t>🔮  Predict demand before stock runs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1605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0BEC5"/>
                </a:solidFill>
              </a:rPr>
              <a:t>🚨  Get plain-English alerts — not numbers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66344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0BEC5"/>
                </a:solidFill>
              </a:rPr>
              <a:t>📊  See real analytics from real sales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1663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0BEC5"/>
                </a:solidFill>
              </a:rPr>
              <a:t>☁️  Live on cloud — works anywhere, anytime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943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D4FF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